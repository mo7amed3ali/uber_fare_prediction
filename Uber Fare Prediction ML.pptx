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</ns0:sldIdLst>
  <ns0:sldSz cx="12192000" cy="6858000" type="screen4x3"/>
  <ns0:notesSz cx="6858000" cy="9144000"/>
  <ns0:embeddedFontLst>
    <ns0:embeddedFont>
      <ns0:font typeface="JetBrains Mono"/>
      <ns0:bold ns1:id="rIdFont22"/>
      <ns0:regular ns1:id="rIdFont23"/>
    </ns0:embeddedFont>
    <ns0:embeddedFont>
      <ns0:font typeface="Inter"/>
      <ns0:bold ns1:id="rIdFont24"/>
      <ns0:regular ns1:id="rIdFont2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Font22" Type="http://schemas.openxmlformats.org/officeDocument/2006/relationships/font" Target="fonts/5a3d9f6e-8f18-49f1-9a8d-234b6addf88d.fntdata" /><ns0:Relationship Id="rIdFont23" Type="http://schemas.openxmlformats.org/officeDocument/2006/relationships/font" Target="fonts/1f9dfb39-112e-44fd-a8c4-67fedc0d14a0.fntdata" /><ns0:Relationship Id="rIdFont24" Type="http://schemas.openxmlformats.org/officeDocument/2006/relationships/font" Target="fonts/99b8792d-54b0-4f67-8381-01250f5be7c6.fntdata" /><ns0:Relationship Id="rIdFont25" Type="http://schemas.openxmlformats.org/officeDocument/2006/relationships/font" Target="fonts/3a8e8931-ce17-4ae9-b006-ccb9e599dce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957613"/>
            <a:ext cx="6096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862286"/>
            <a:ext cx="6858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DD4BF"/>
                </a:solidFill>
                <a:latin typeface="JetBrains Mono"/>
              </a:rPr>
              <a:t>MACHINE LEARNING TRACK — TASK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290911"/>
            <a:ext cx="5860732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Inter"/>
              </a:rPr>
              <a:t>Uber Fare</a:t>
            </a:r>
            <a:r>
              <a:t>
</a:t>
            </a:r>
            <a:r>
              <a:rPr b="1" sz="4800" i="0" u="none">
                <a:solidFill>
                  <a:srgbClr val="F8FAFC"/>
                </a:solidFill>
                <a:latin typeface="Inter"/>
              </a:rPr>
              <a:t>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60452"/>
            <a:ext cx="48577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Data Preprocessing &amp; Regression Modeling for the Uber Fare Dataset.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214687"/>
            <a:ext cx="4046190" cy="1695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65390" y="2824162"/>
            <a:ext cx="6317009" cy="2476500"/>
          </a:xfrm>
          <a:prstGeom prst="roundRect">
            <a:avLst>
              <a:gd name="adj" fmla="val 61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214687"/>
            <a:ext cx="38100" cy="16954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390" y="3676650"/>
            <a:ext cx="15240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020" y="3676650"/>
            <a:ext cx="15240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390" y="4029075"/>
            <a:ext cx="15240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020" y="4029075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390" y="4381500"/>
            <a:ext cx="1524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020" y="4381500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390" y="4733925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020" y="4733925"/>
            <a:ext cx="15240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PROJECT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9620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Prepare Data &amp; Build Regression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3214687"/>
            <a:ext cx="4860568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Primary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3690937"/>
            <a:ext cx="379854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Transform raw Uber dataset for modeling and build an accurate machine learning pipeline to predict trip fare amounts.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46390" y="3205162"/>
            <a:ext cx="654560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KEY EXECUTION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6390" y="3662362"/>
            <a:ext cx="3376538" cy="2000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Handle missing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0020" y="3662362"/>
            <a:ext cx="3376538" cy="2000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Remove duplicates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6390" y="4014787"/>
            <a:ext cx="3376538" cy="2000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Encode categories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0020" y="4014787"/>
            <a:ext cx="3376538" cy="2000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Scale numeric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6390" y="4367212"/>
            <a:ext cx="3376538" cy="2000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Detect outliers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0020" y="4367212"/>
            <a:ext cx="3376538" cy="2000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Train/Test Split &amp; CV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46390" y="4719637"/>
            <a:ext cx="3376538" cy="2000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Tune hyperparameters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0020" y="4719637"/>
            <a:ext cx="3376538" cy="2000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Evaluate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14762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814762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814762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620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Raw Data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95537"/>
            <a:ext cx="3583781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b="1" sz="5400" i="0" u="none">
                <a:solidFill>
                  <a:srgbClr val="0F172A"/>
                </a:solidFill>
                <a:latin typeface="JetBrains Mono"/>
              </a:rPr>
              <a:t>487,742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157537"/>
            <a:ext cx="3583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Inter"/>
              </a:rPr>
              <a:t>TOTAL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5425" y="2395537"/>
            <a:ext cx="1171575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b="1" sz="5400" i="0" u="none">
                <a:solidFill>
                  <a:srgbClr val="0D9488"/>
                </a:solidFill>
                <a:latin typeface="JetBrains Mono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5425" y="3157537"/>
            <a:ext cx="1171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Inter"/>
              </a:rPr>
              <a:t>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0050" y="2441376"/>
            <a:ext cx="4171950" cy="639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1" sz="4200" i="0" u="none">
                <a:solidFill>
                  <a:srgbClr val="0F172A"/>
                </a:solidFill>
                <a:latin typeface="JetBrains Mono"/>
              </a:rPr>
              <a:t>fare_amount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0050" y="3157537"/>
            <a:ext cx="4171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Inter"/>
              </a:rPr>
              <a:t>TARGET VARIABLE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9562"/>
            <a:ext cx="36195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D9488"/>
                </a:solidFill>
                <a:latin typeface="JetBrains Mono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0587"/>
            <a:ext cx="38004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Missing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05387"/>
            <a:ext cx="3619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In selected features.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4119562"/>
            <a:ext cx="36195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D9488"/>
                </a:solidFill>
                <a:latin typeface="JetBrains Mono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200" y="4700587"/>
            <a:ext cx="38004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Duplicate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200" y="5005387"/>
            <a:ext cx="3619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Exact matches removed.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0" y="4119562"/>
            <a:ext cx="36195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JetBrains Mono"/>
              </a:rPr>
              <a:t>390K / 97K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4700587"/>
            <a:ext cx="38004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Train / Test 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0" y="5005387"/>
            <a:ext cx="3619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Training vs Testing samples.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57400"/>
            <a:ext cx="5295900" cy="3781425"/>
          </a:xfrm>
          <a:prstGeom prst="roundRect">
            <a:avLst>
              <a:gd name="adj" fmla="val 403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2057400"/>
            <a:ext cx="5295900" cy="3781425"/>
          </a:xfrm>
          <a:prstGeom prst="roundRect">
            <a:avLst>
              <a:gd name="adj" fmla="val 403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2600325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425" y="2600325"/>
            <a:ext cx="40005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Missing Values &amp; Duplicates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692" y="3286125"/>
            <a:ext cx="572571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Inter"/>
              </a:rPr>
              <a:t>Missing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1018" y="3762375"/>
            <a:ext cx="5453062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D9488"/>
                </a:solidFill>
                <a:latin typeface="JetBrains Mono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018" y="4714875"/>
            <a:ext cx="5453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No missing values found in selected features.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018" y="5095875"/>
            <a:ext cx="5453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Result: No imputation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1592" y="3286125"/>
            <a:ext cx="572571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Inter"/>
              </a:rPr>
              <a:t>Exact Duplicates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7918" y="3762375"/>
            <a:ext cx="5453062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D9488"/>
                </a:solidFill>
                <a:latin typeface="JetBrains Mono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7918" y="4714875"/>
            <a:ext cx="5453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Checked prior to modeling.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7918" y="5095875"/>
            <a:ext cx="5453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Result: Dataset remained at 487,742 rows.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1237" y="2181225"/>
            <a:ext cx="9525" cy="4219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571750"/>
            <a:ext cx="4795837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200400"/>
            <a:ext cx="4795837" cy="16764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86562" y="2571750"/>
            <a:ext cx="4795837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86562" y="3810000"/>
            <a:ext cx="4795837" cy="762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6562" y="3810000"/>
            <a:ext cx="38100" cy="762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00275"/>
            <a:ext cx="2571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2" y="2200275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452812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275" y="3786187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150" y="4119562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150" y="4452937"/>
            <a:ext cx="152400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CATEGORICAL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9620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Feature Encoding Strategies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495425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Different encoding strategies applied based on feature nature.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2181225"/>
            <a:ext cx="5135641" cy="295275"/>
          </a:xfrm>
          <a:prstGeom prst="rect">
            <a:avLst/>
          </a:prstGeom>
          <a:noFill/>
        </p:spPr>
        <p:txBody>
          <a:bodyPr wrap="square" lIns="371475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Ordinal Encoding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2819400"/>
            <a:ext cx="59947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Car Condition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6562" y="2181225"/>
            <a:ext cx="5135641" cy="295275"/>
          </a:xfrm>
          <a:prstGeom prst="rect">
            <a:avLst/>
          </a:prstGeom>
          <a:noFill/>
        </p:spPr>
        <p:txBody>
          <a:bodyPr wrap="square" lIns="34290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One-Hot Encoding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6562" y="2819400"/>
            <a:ext cx="5405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Weather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6562" y="3276600"/>
            <a:ext cx="5405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Traffic Condition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5162" y="4000500"/>
            <a:ext cx="447198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A3412"/>
                </a:solidFill>
                <a:latin typeface="Inter"/>
              </a:rPr>
              <a:t>Prevents model from assuming artificial numerical relationships between nominal categories.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3429000"/>
            <a:ext cx="5423296" cy="219075"/>
          </a:xfrm>
          <a:prstGeom prst="rect">
            <a:avLst/>
          </a:prstGeom>
          <a:noFill/>
        </p:spPr>
        <p:txBody>
          <a:bodyPr wrap="none" lIns="3048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JetBrains Mono"/>
              </a:rPr>
              <a:t>Bad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762375"/>
            <a:ext cx="5423296" cy="219075"/>
          </a:xfrm>
          <a:prstGeom prst="rect">
            <a:avLst/>
          </a:prstGeom>
          <a:noFill/>
        </p:spPr>
        <p:txBody>
          <a:bodyPr wrap="none" lIns="3048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JetBrains Mono"/>
              </a:rPr>
              <a:t>Good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4095750"/>
            <a:ext cx="5423296" cy="219075"/>
          </a:xfrm>
          <a:prstGeom prst="rect">
            <a:avLst/>
          </a:prstGeom>
          <a:noFill/>
        </p:spPr>
        <p:txBody>
          <a:bodyPr wrap="none" lIns="3048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JetBrains Mono"/>
              </a:rPr>
              <a:t>Very Good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4429125"/>
            <a:ext cx="5423296" cy="219075"/>
          </a:xfrm>
          <a:prstGeom prst="rect">
            <a:avLst/>
          </a:prstGeom>
          <a:noFill/>
        </p:spPr>
        <p:txBody>
          <a:bodyPr wrap="none" lIns="3048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JetBrains Mono"/>
              </a:rPr>
              <a:t>Excellent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00262"/>
            <a:ext cx="109728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291137"/>
            <a:ext cx="109728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291137"/>
            <a:ext cx="38100" cy="5048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148137"/>
            <a:ext cx="2443162" cy="68580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52812" y="4148137"/>
            <a:ext cx="2443162" cy="68580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96025" y="4148137"/>
            <a:ext cx="2443162" cy="68580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39237" y="4148137"/>
            <a:ext cx="2443162" cy="68580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162" y="4414837"/>
            <a:ext cx="952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375" y="4414837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587" y="4414837"/>
            <a:ext cx="9525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PIPELINE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9620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Scaling &amp; Scikit-Learn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690937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64748B"/>
                </a:solidFill>
                <a:latin typeface="Inter"/>
              </a:rPr>
              <a:t>FULL PREPROCESSING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5291137"/>
            <a:ext cx="113157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Why use a Pipeline?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5595937"/>
            <a:ext cx="11315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Applies preprocessing consistently across train/test splits. Eliminates data leakage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7800" y="2405062"/>
            <a:ext cx="496312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StandardScaler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7800" y="2728912"/>
            <a:ext cx="4726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All numerical features standardized identically.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804" y="4300537"/>
            <a:ext cx="2596753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FFFFF"/>
                </a:solidFill>
                <a:latin typeface="Inter"/>
              </a:rPr>
              <a:t>Imputation</a:t>
            </a:r>
            <a:r>
              <a:t>
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Median &amp; Most-Freq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6017" y="4300537"/>
            <a:ext cx="2596753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FFFFF"/>
                </a:solidFill>
                <a:latin typeface="Inter"/>
              </a:rPr>
              <a:t>Encoding</a:t>
            </a:r>
            <a:r>
              <a:t>
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Ordinal &amp; One-Hot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9229" y="4300537"/>
            <a:ext cx="2596753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FFFFF"/>
                </a:solidFill>
                <a:latin typeface="Inter"/>
              </a:rPr>
              <a:t>Scaling</a:t>
            </a:r>
            <a:r>
              <a:t>
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StandardScaler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2442" y="4300537"/>
            <a:ext cx="2596753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FFFFF"/>
                </a:solidFill>
                <a:latin typeface="Inter"/>
              </a:rPr>
              <a:t>Feature Selection</a:t>
            </a:r>
            <a:r>
              <a:t>
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Model Inputs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81337"/>
            <a:ext cx="4710558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29758" y="3952875"/>
            <a:ext cx="5652641" cy="124777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29758" y="3952875"/>
            <a:ext cx="38100" cy="12477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29758" y="2695575"/>
          <a:ext cx="5652640" cy="9525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829198"/>
                <a:gridCol w="1823442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Lower Bound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 i="0" u="none">
                          <a:solidFill>
                            <a:srgbClr val="475569"/>
                          </a:solidFill>
                          <a:latin typeface="JetBrains Mono"/>
                        </a:rPr>
                        <a:t>-3.75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Upper Bound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500" i="0" u="none">
                          <a:solidFill>
                            <a:srgbClr val="475569"/>
                          </a:solidFill>
                          <a:latin typeface="JetBrains Mono"/>
                        </a:rPr>
                        <a:t>22.25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620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Outlier Detection (fare_amount)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05087"/>
            <a:ext cx="588819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IQR method applied to target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6137"/>
            <a:ext cx="512619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DETECTED OUTLIERS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2837"/>
            <a:ext cx="5126198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0D9488"/>
                </a:solidFill>
                <a:latin typeface="JetBrains Mono"/>
              </a:rPr>
              <a:t>8.64%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9137"/>
            <a:ext cx="512619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33,702 trip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6458" y="4181475"/>
            <a:ext cx="599554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Inter"/>
              </a:rPr>
              <a:t>Action Taken: Retained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6458" y="4457700"/>
            <a:ext cx="5252591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1E40AF"/>
                </a:solidFill>
                <a:latin typeface="Inter"/>
              </a:rPr>
              <a:t>Outliers were identified but not removed. Unusually high fares represent valid, real-world long-distance trips.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29758" y="2576512"/>
            <a:ext cx="5652641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29758" y="4176712"/>
            <a:ext cx="5652641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44158" y="3443287"/>
            <a:ext cx="1669107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805" y="2519362"/>
            <a:ext cx="2286000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558" y="2900362"/>
            <a:ext cx="18097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558" y="4500562"/>
            <a:ext cx="238125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MODEL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620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Data Split &amp; Cross-Validation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4558" y="2881312"/>
            <a:ext cx="5957441" cy="247650"/>
          </a:xfrm>
          <a:prstGeom prst="rect">
            <a:avLst/>
          </a:prstGeom>
          <a:noFill/>
        </p:spPr>
        <p:txBody>
          <a:bodyPr wrap="none" lIns="295275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Strict Separation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4558" y="3243262"/>
            <a:ext cx="5138291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Test set isolated completely during preprocessing and tuning.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4558" y="4481512"/>
            <a:ext cx="5957441" cy="247650"/>
          </a:xfrm>
          <a:prstGeom prst="rect">
            <a:avLst/>
          </a:prstGeom>
          <a:noFill/>
        </p:spPr>
        <p:txBody>
          <a:bodyPr wrap="none" lIns="352425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5-Fold Cross-Validation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4558" y="4843462"/>
            <a:ext cx="5138291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Used for baseline evaluation and hyperparameter tuning. Provides reliable estimation of performance.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0467" y="3429000"/>
            <a:ext cx="8286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1" sz="2400" i="0" u="none">
                <a:solidFill>
                  <a:srgbClr val="0F172A"/>
                </a:solidFill>
                <a:latin typeface="JetBrains Mono"/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7142" y="3733800"/>
            <a:ext cx="6953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5155" y="5110162"/>
            <a:ext cx="1219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TRAINING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5155" y="5310187"/>
            <a:ext cx="12192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JetBrains Mono"/>
              </a:rPr>
              <a:t>390,193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7205" y="5110162"/>
            <a:ext cx="1143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TESTING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7205" y="5310187"/>
            <a:ext cx="11430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JetBrains Mono"/>
              </a:rPr>
              <a:t>97,549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1308" y="3462337"/>
            <a:ext cx="197208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monospace"/>
              </a:rPr>
              <a:t>random_state = 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9750" y="3619500"/>
            <a:ext cx="3429000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38750" y="3619500"/>
            <a:ext cx="2571750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10500" y="3619500"/>
            <a:ext cx="2571750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09750" y="4176712"/>
            <a:ext cx="342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38750" y="4176712"/>
            <a:ext cx="2571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0500" y="4176712"/>
            <a:ext cx="2571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9750" y="4948237"/>
            <a:ext cx="342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38750" y="4948237"/>
            <a:ext cx="2571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0500" y="4948237"/>
            <a:ext cx="2571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09750" y="5491162"/>
            <a:ext cx="342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38750" y="5491162"/>
            <a:ext cx="2571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0500" y="5491162"/>
            <a:ext cx="2571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809750" y="3095625"/>
          <a:ext cx="8572500" cy="24098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429000"/>
                <a:gridCol w="2571750"/>
                <a:gridCol w="2571750"/>
              </a:tblGrid>
              <a:tr h="602456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Evaluation 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Cross-Validation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Test Set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Inter"/>
                        </a:rPr>
                        <a:t>Mean Absolute Error (MAE)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2.4369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2.4143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Inter"/>
                        </a:rPr>
                        <a:t>Root Mean Squared Error (RMSE)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4.9585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4.8874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2457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Inter"/>
                        </a:rPr>
                        <a:t>R² 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0.7319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0.7368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INITIAL MODELING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9620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Baseline Model: Linear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5437" y="2390775"/>
            <a:ext cx="90011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475569"/>
                </a:solidFill>
                <a:latin typeface="Inter"/>
              </a:rPr>
              <a:t>Establishes a foundational reference point before tuning complex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638425"/>
            <a:ext cx="5486400" cy="20764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638425"/>
            <a:ext cx="38100" cy="20764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143000"/>
            <a:ext cx="6858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47825"/>
            <a:ext cx="72009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Random Forest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133600"/>
            <a:ext cx="6858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Selected for flexibility. Tuned via RandomizedSearchCV.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867025"/>
            <a:ext cx="6238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BEST PARAMETERS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019675"/>
            <a:ext cx="6858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BEST CROSS-VALIDATION 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257800"/>
            <a:ext cx="6858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D9488"/>
                </a:solidFill>
                <a:latin typeface="JetBrains Mono"/>
              </a:rPr>
              <a:t>3.6028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181350"/>
            <a:ext cx="6238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JetBrains Mono"/>
              </a:rPr>
              <a:t>n_estimators = 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457575"/>
            <a:ext cx="6238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JetBrains Mono"/>
              </a:rPr>
              <a:t>max_depth =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733800"/>
            <a:ext cx="6238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JetBrains Mono"/>
              </a:rPr>
              <a:t>max_features = 0.7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4010025"/>
            <a:ext cx="6238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JetBrains Mono"/>
              </a:rPr>
              <a:t>min_samples_split =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286250"/>
            <a:ext cx="6238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JetBrains Mono"/>
              </a:rPr>
              <a:t>min_samples_leaf =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200525"/>
            <a:ext cx="10972800" cy="1514475"/>
          </a:xfrm>
          <a:prstGeom prst="roundRect">
            <a:avLst>
              <a:gd name="adj" fmla="val 75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705100"/>
            <a:ext cx="5235029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44629" y="2705100"/>
            <a:ext cx="1912441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57070" y="2705100"/>
            <a:ext cx="1912441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69512" y="2705100"/>
            <a:ext cx="1912887" cy="19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262312"/>
            <a:ext cx="52350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44629" y="3262312"/>
            <a:ext cx="19124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57070" y="3262312"/>
            <a:ext cx="19124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69512" y="3262312"/>
            <a:ext cx="1912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805237"/>
            <a:ext cx="52350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44629" y="3805237"/>
            <a:ext cx="19124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57070" y="3805237"/>
            <a:ext cx="19124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69512" y="3805237"/>
            <a:ext cx="1912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09600" y="2181225"/>
          <a:ext cx="10972798" cy="16383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5235029"/>
                <a:gridCol w="1912441"/>
                <a:gridCol w="1912441"/>
                <a:gridCol w="1912887"/>
              </a:tblGrid>
              <a:tr h="54610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Model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MAE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RMSE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R²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Inter"/>
                        </a:rPr>
                        <a:t>Linear Regression (Baseline)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2.4143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4.8874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Inter"/>
                        </a:rPr>
                        <a:t>0.7368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D9488"/>
                          </a:solidFill>
                          <a:latin typeface="Inter"/>
                        </a:rPr>
                        <a:t>Tuned Random Forest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1.6465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3.4732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0.8671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9620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Final Model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4505325"/>
            <a:ext cx="750093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DD4BF"/>
                </a:solidFill>
                <a:latin typeface="Inter"/>
              </a:rPr>
              <a:t>Test Set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4895850"/>
            <a:ext cx="5810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The Random Forest model demonstrates robust generalization on unseen data, explaining ~86.7% of fare variance.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3512" y="4595812"/>
            <a:ext cx="2071687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3600"/>
              </a:lnSpc>
            </a:pPr>
            <a:r>
              <a:rPr b="1" sz="3600" i="0" u="none">
                <a:solidFill>
                  <a:srgbClr val="FFFFFF"/>
                </a:solidFill>
                <a:latin typeface="JetBrains Mono"/>
              </a:rPr>
              <a:t>0.8671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3512" y="5129212"/>
            <a:ext cx="2071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94A3B8"/>
                </a:solidFill>
                <a:latin typeface="Inter"/>
              </a:rPr>
              <a:t>FINAL R² SCORE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905125"/>
            <a:ext cx="171450" cy="190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905125"/>
            <a:ext cx="171450" cy="19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714750"/>
            <a:ext cx="17145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714750"/>
            <a:ext cx="17145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24375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24375"/>
            <a:ext cx="17145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620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886075"/>
            <a:ext cx="6800850" cy="228600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Data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90875"/>
            <a:ext cx="6096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Successfully formatted for regression modeling.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86075"/>
            <a:ext cx="5791200" cy="228600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Data Cleanliness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3190875"/>
            <a:ext cx="5486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Zero missing values or duplicate rows found.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695700"/>
            <a:ext cx="6800850" cy="228600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00500"/>
            <a:ext cx="6096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Categorical encoding and numeric scaling within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95700"/>
            <a:ext cx="5791200" cy="228600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Outlier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600" y="4000500"/>
            <a:ext cx="5486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High-fare potential outliers identified and retained.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505325"/>
            <a:ext cx="6800850" cy="228600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Model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10125"/>
            <a:ext cx="6096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Random Forest optimized via RandomizedSearchCV.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05325"/>
            <a:ext cx="5791200" cy="228600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Deployment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600" y="4810125"/>
            <a:ext cx="5486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Final pipeline saved using Joblib for future predictions.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52687"/>
            <a:ext cx="3505051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251" y="2452687"/>
            <a:ext cx="3505051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6902" y="2452687"/>
            <a:ext cx="3505051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176712"/>
            <a:ext cx="3505051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251" y="4176712"/>
            <a:ext cx="3505051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76902" y="4176712"/>
            <a:ext cx="3505051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81287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51" y="2681287"/>
            <a:ext cx="2857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502" y="2681287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405312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851" y="4405312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5502" y="4405312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9620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Future Improvements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062287"/>
            <a:ext cx="40003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Deeper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338512"/>
            <a:ext cx="3143101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Perform more extensive hyperparameter search grid.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851" y="3062287"/>
            <a:ext cx="40003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Advanced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851" y="3338512"/>
            <a:ext cx="3143101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Experiment with Gradient Boosting and XGBoost.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502" y="3062287"/>
            <a:ext cx="388649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Outlier Deep-Dive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502" y="3338512"/>
            <a:ext cx="3143101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Investigate detected high-fare trips in more detail.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4786312"/>
            <a:ext cx="40003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Feature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5062537"/>
            <a:ext cx="3143101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Add meaningful interaction and time-based features.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851" y="4786312"/>
            <a:ext cx="40003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Error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851" y="5062537"/>
            <a:ext cx="3143101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Analyze prediction errors across distinct fare ranges.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5502" y="4786312"/>
            <a:ext cx="388649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Outlier Treatments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5502" y="5062537"/>
            <a:ext cx="3143101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Compare model performance using different outlier strategies.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9461" y="2752725"/>
            <a:ext cx="4613076" cy="828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8FAFC"/>
                </a:solidFill>
                <a:latin typeface="Inter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62562" y="3810000"/>
            <a:ext cx="16668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2DD4BF"/>
                </a:solidFill>
                <a:latin typeface="JetBrains Mono"/>
              </a:rPr>
              <a:t>Questions?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1049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866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866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4777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1930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3219152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290637"/>
            <a:ext cx="95845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https://images.stockcake.com/public/f/4/4/f44ece57-e961-4876-9c70-452e90697812_large/futuristic-network-grid-stockcake.jpg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490662"/>
            <a:ext cx="2119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2062162"/>
            <a:ext cx="7941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https://assets.insightmediagroup.io/media/wp-content/uploads/2021/01/1B-Gwgsk4MQj_Bws64W_wjw.jpeg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262187"/>
            <a:ext cx="3000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towardsdatascience.com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